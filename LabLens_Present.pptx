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929" autoAdjust="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398" y="-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7670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E3A6E">
              <a:alpha val="70000"/>
            </a:srgbClr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1828800"/>
            <a:ext cx="3200400" cy="3200400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LabLens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11480" y="25603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AI Ecosystem for Clinical Data Intelligence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11480" y="3291840"/>
            <a:ext cx="36576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:Omnia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ELhalawani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0" y="4480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143000" y="228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5120640" cy="13716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91440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LabLens?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serverless, multi-cloud AI ecosystem that bridges the gap between complex clinical laboratory data and patient understanding — delivering high-accuracy report analysis with near-zero infrastructure overhead.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697480"/>
            <a:ext cx="512064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2697480"/>
            <a:ext cx="9144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Pattern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Architecture (EDA)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60720" y="1143000"/>
            <a:ext cx="3108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760720" y="1143000"/>
            <a:ext cx="91440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8932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~$0.0002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98932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Analysis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2377440"/>
            <a:ext cx="3108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60720" y="2377440"/>
            <a:ext cx="9144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89320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98932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Monthly Cost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60720" y="3611880"/>
            <a:ext cx="3108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760720" y="3611880"/>
            <a:ext cx="91440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89320" y="3703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&lt;10ms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98932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Latency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14300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Layer — AWS Lambda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891B2"/>
                </a:solidFill>
              </a:rPr>
              <a:t>THE ORCHESTRATOR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148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41148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cold-start times &amp; rich library support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508760"/>
            <a:ext cx="41148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1508760"/>
            <a:ext cx="41148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16733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MB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92040" y="2331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balance execution speed and cost efficiency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41148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3063240"/>
            <a:ext cx="41148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2278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Model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" y="3886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analysis is handled in total isolation — infinitely scalable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3063240"/>
            <a:ext cx="41148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09160" y="3063240"/>
            <a:ext cx="41148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32278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Config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892040" y="3886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scaling for high-resolution medical image processing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599432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Logic Handles:  Image-to-Base64 encoding  |  Multi-cloud API orchestration  |  DynamoDB data persistence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14300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Ingress — S3 + API Gateway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32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1737360" cy="2468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28016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FRONT-END HOSTING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Website Hosting for front-end delivery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697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bucket access via IAM integration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246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durability: 99.999999999% (11 nines)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794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server management required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82112" y="11430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82112" y="1143000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19272" y="1280160"/>
            <a:ext cx="1737360" cy="2468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9272" y="128016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MANAGED PROXY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19272" y="1645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319272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JSON payload handling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9272" y="2697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management out of the box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9272" y="3246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secure front-door to Lambda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9272" y="3794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to any traffic volume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9904" y="11430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89904" y="1143000"/>
            <a:ext cx="27432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27064" y="1280160"/>
            <a:ext cx="1737360" cy="2468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27064" y="128016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SECURITY LAYER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27064" y="1645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227064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least-privilege policy enforcement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27064" y="2697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Bucket-level private access control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27064" y="3246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Lambda execution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27064" y="3794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resource exposure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572000"/>
            <a:ext cx="859536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5902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 User → API Gateway → Lambda → DynamoDB   |   Frontend → S3 Static Hosting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14300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 — Amazon DynamoDB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393192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SCHEMA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719072"/>
            <a:ext cx="914400" cy="475488"/>
          </a:xfrm>
          <a:prstGeom prst="rect">
            <a:avLst/>
          </a:prstGeom>
          <a:solidFill>
            <a:srgbClr val="1E3A6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6616" y="1719072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Type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34440" y="1719072"/>
            <a:ext cx="960120" cy="475488"/>
          </a:xfrm>
          <a:prstGeom prst="rect">
            <a:avLst/>
          </a:prstGeom>
          <a:solidFill>
            <a:srgbClr val="1E3A6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71016" y="1719072"/>
            <a:ext cx="886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94560" y="1719072"/>
            <a:ext cx="594360" cy="475488"/>
          </a:xfrm>
          <a:prstGeom prst="rect">
            <a:avLst/>
          </a:prstGeom>
          <a:solidFill>
            <a:srgbClr val="1E3A6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31136" y="1719072"/>
            <a:ext cx="521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88920" y="1719072"/>
            <a:ext cx="1325880" cy="475488"/>
          </a:xfrm>
          <a:prstGeom prst="rect">
            <a:avLst/>
          </a:prstGeom>
          <a:solidFill>
            <a:srgbClr val="1E3A6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825496" y="1719072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194560"/>
            <a:ext cx="914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6616" y="2194560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Key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34440" y="2194560"/>
            <a:ext cx="960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71016" y="2194560"/>
            <a:ext cx="886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analysis_id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94560" y="2194560"/>
            <a:ext cx="594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31136" y="2194560"/>
            <a:ext cx="521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88920" y="2194560"/>
            <a:ext cx="1325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25496" y="2194560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record ID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670048"/>
            <a:ext cx="91440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6616" y="2670048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Key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234440" y="2670048"/>
            <a:ext cx="96012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271016" y="2670048"/>
            <a:ext cx="886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user_email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94560" y="2670048"/>
            <a:ext cx="5943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231136" y="2670048"/>
            <a:ext cx="521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88920" y="2670048"/>
            <a:ext cx="13258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825496" y="2670048"/>
            <a:ext cx="1252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user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2880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On-demand capacity for unpredictable traffic bursts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" y="33375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UUID partition key ensures globally unique records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" y="3794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Email sort key enables efficient per-user queries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0" y="1143000"/>
            <a:ext cx="429768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72000" y="1143000"/>
            <a:ext cx="91440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54880" y="12161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&lt;10ms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4754880" y="17099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Latency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54880" y="1947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Single-digit millisecond performance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2350008"/>
            <a:ext cx="429768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572000" y="2350008"/>
            <a:ext cx="91440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54880" y="24231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4754880" y="29169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At-Rest Encryption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754880" y="31546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AWS-managed key encryption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0" y="3557016"/>
            <a:ext cx="429768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572000" y="3557016"/>
            <a:ext cx="91440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754880" y="36301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4754880" y="41239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754880" y="43616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capacity planning required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14300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AI — Google Gemini 1.5 Flash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91440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527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Vision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medical report images directly — superior to standard OCR engines for complex clinical documents and handwritten annotations.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91440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2527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NLP Accuracy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Industry-leading accuracy for Arabic natural language processing, ensuring clinical terms are correctly parsed and explained for Arabic-speaking patients.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91440" cy="1508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944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REST Integration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33375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integrated via secure REST API calls from Lambda. No vendor lock-in — clean multi-cloud separation of compute and AI layers.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8346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2834640"/>
            <a:ext cx="91440" cy="1508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2944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3375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pattern implemented in Lambda to gracefully handle API throttling, network jitter, and transient failures without user impact.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544568"/>
            <a:ext cx="85953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5628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 ←→  Google Cloud AI   |   Pattern: Event-Driven API Orchestration across cloud providers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14300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Operational Excellence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14800" cy="4572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— Identity &amp; Access Management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of Least Privilege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execution role is scoped to the minimum permissions required: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560320"/>
            <a:ext cx="256032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dynamodb:PutItem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063240"/>
            <a:ext cx="256032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0632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logs:CreateLogGroup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703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write access to S3, no read access to other tables — zero over-permissioning.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14300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1143000"/>
            <a:ext cx="41148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117043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— Shared Responsibility Model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46320" y="1737360"/>
            <a:ext cx="38404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46320" y="1737360"/>
            <a:ext cx="91440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0" y="1828800"/>
            <a:ext cx="91440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0" y="1828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In-Transit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0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 / 1.3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9200" y="2560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calls and data transfers encrypted end-to-end via modern TLS protocols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291840"/>
            <a:ext cx="38404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3291840"/>
            <a:ext cx="91440" cy="1371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029200" y="3383280"/>
            <a:ext cx="91440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0" y="3383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At-Rest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29200" y="3703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029200" y="4114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uses AWS-managed AES-256 encryption for all stored records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14300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 — Serverless Economics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023360" cy="32004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02336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3840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— EC2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~$72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1148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9992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cost regardless of usage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383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servers still bill full price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767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scaling &amp; maintenance needed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60520" y="2103120"/>
            <a:ext cx="822960" cy="82296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60520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143000"/>
            <a:ext cx="4023360" cy="32004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46320" y="1143000"/>
            <a:ext cx="402336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1170432"/>
            <a:ext cx="3840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LabLens — Lambda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17830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~$0.0002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892040" y="2606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analysis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29992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for what you use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3383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idle cost — $0 at rest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3767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auto-scaling included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498848"/>
            <a:ext cx="859536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51713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At 1,000 analyses/month: LabLens ≈ $0.20  vs  EC2 ≈ $72.00  →  99.7% cost reduction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14300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</a:t>
            </a:r>
            <a:r>
              <a:rPr lang="en-US" sz="2400" b="1" dirty="0">
                <a:solidFill>
                  <a:schemeClr val="bg2"/>
                </a:solidFill>
              </a:rPr>
              <a:t>Future Work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891B2"/>
                </a:solidFill>
              </a:rPr>
              <a:t>IMPLEMENTATION STEPS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490472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" y="1965960"/>
            <a:ext cx="5486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14996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755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event-driven flow from S3 to Gemini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4884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" y="2624328"/>
            <a:ext cx="5486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21579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4140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S3 Buckets, IAM Roles, DynamoDB Tables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07208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" y="3282696"/>
            <a:ext cx="5486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28163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Development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0723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Python-based Lambda Orchestrator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465576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" y="3941064"/>
            <a:ext cx="54864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" y="34747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3730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API handshakes between AWS and Google Cloud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123944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" y="41330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Tuning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43891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Lambda memory &amp; timeout for high-res images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34840" y="1097280"/>
            <a:ext cx="36576" cy="3749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9160" y="1097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</a:rPr>
              <a:t>V2.0 ROADMAP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146304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1463040"/>
            <a:ext cx="9144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37760" y="15179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Secrets Manager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API keys from environment variables to secure vault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233172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54880" y="2331720"/>
            <a:ext cx="91440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37760" y="2386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Textract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37760" y="2697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layer to denoise handwritten medical scans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54880" y="320040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54880" y="3200400"/>
            <a:ext cx="9144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37760" y="32552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Dashboard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937760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of latency, errors, and throughput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54880" y="406908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754880" y="4069080"/>
            <a:ext cx="91440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937760" y="41239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CloudFront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937760" y="4434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CDN to serve UI from edge locations worldwide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74320" y="48737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"/>
          <p:cNvSpPr/>
          <p:nvPr/>
        </p:nvSpPr>
        <p:spPr>
          <a:xfrm>
            <a:off x="274320" y="91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</a:rPr>
              <a:t>09</a:t>
            </a:r>
          </a:p>
        </p:txBody>
      </p:sp>
      <p:sp>
        <p:nvSpPr>
          <p:cNvPr id="4" name="Title"/>
          <p:cNvSpPr/>
          <p:nvPr/>
        </p:nvSpPr>
        <p:spPr>
          <a:xfrm>
            <a:off x="114300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>System Architecture — End-to-End Data Flow</a:t>
            </a:r>
          </a:p>
        </p:txBody>
      </p:sp>
      <p:sp>
        <p:nvSpPr>
          <p:cNvPr id="5" name="Canvas"/>
          <p:cNvSpPr/>
          <p:nvPr/>
        </p:nvSpPr>
        <p:spPr>
          <a:xfrm>
            <a:off x="182880" y="1028700"/>
            <a:ext cx="8778240" cy="3680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L"/>
          <p:cNvSpPr/>
          <p:nvPr/>
        </p:nvSpPr>
        <p:spPr>
          <a:xfrm>
            <a:off x="274320" y="1143000"/>
            <a:ext cx="137160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7" name="N1"/>
          <p:cNvSpPr/>
          <p:nvPr/>
        </p:nvSpPr>
        <p:spPr>
          <a:xfrm>
            <a:off x="274320" y="1509840"/>
            <a:ext cx="137160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1D4ED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Patient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</a:rPr>
              <a:t>Web Browser</a:t>
            </a:r>
          </a:p>
        </p:txBody>
      </p:sp>
      <p:sp>
        <p:nvSpPr>
          <p:cNvPr id="8" name="AL1"/>
          <p:cNvSpPr/>
          <p:nvPr/>
        </p:nvSpPr>
        <p:spPr>
          <a:xfrm>
            <a:off x="1668780" y="17250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</a:rPr>
              <a:t>HTTPS</a:t>
            </a:r>
          </a:p>
        </p:txBody>
      </p:sp>
      <p:sp>
        <p:nvSpPr>
          <p:cNvPr id="9" name="Arr1"/>
          <p:cNvSpPr/>
          <p:nvPr/>
        </p:nvSpPr>
        <p:spPr>
          <a:xfrm>
            <a:off x="1645920" y="1875960"/>
            <a:ext cx="54864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AL"/>
          <p:cNvSpPr/>
          <p:nvPr/>
        </p:nvSpPr>
        <p:spPr>
          <a:xfrm>
            <a:off x="2194560" y="1143000"/>
            <a:ext cx="4251960" cy="274320"/>
          </a:xfrm>
          <a:prstGeom prst="rect">
            <a:avLst/>
          </a:prstGeom>
          <a:solidFill>
            <a:srgbClr val="FFF7ED"/>
          </a:solidFill>
          <a:ln w="9525">
            <a:solidFill>
              <a:srgbClr val="F97316"/>
            </a:solidFill>
            <a:prstDash val="solid"/>
          </a:ln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</a:rPr>
              <a:t>AWS LAYER</a:t>
            </a:r>
          </a:p>
        </p:txBody>
      </p:sp>
      <p:sp>
        <p:nvSpPr>
          <p:cNvPr id="11" name="N2"/>
          <p:cNvSpPr/>
          <p:nvPr/>
        </p:nvSpPr>
        <p:spPr>
          <a:xfrm>
            <a:off x="2194560" y="1509840"/>
            <a:ext cx="11430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</a:rPr>
              <a:t>Amazon S3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Static Hosting</a:t>
            </a:r>
          </a:p>
        </p:txBody>
      </p:sp>
      <p:sp>
        <p:nvSpPr>
          <p:cNvPr id="12" name="AL2"/>
          <p:cNvSpPr/>
          <p:nvPr/>
        </p:nvSpPr>
        <p:spPr>
          <a:xfrm>
            <a:off x="3337560" y="16916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</a:rPr>
              <a:t>REST</a:t>
            </a:r>
          </a:p>
        </p:txBody>
      </p:sp>
      <p:sp>
        <p:nvSpPr>
          <p:cNvPr id="13" name="Arr2"/>
          <p:cNvSpPr/>
          <p:nvPr/>
        </p:nvSpPr>
        <p:spPr>
          <a:xfrm>
            <a:off x="3337560" y="1875960"/>
            <a:ext cx="45720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N3"/>
          <p:cNvSpPr/>
          <p:nvPr/>
        </p:nvSpPr>
        <p:spPr>
          <a:xfrm>
            <a:off x="3794760" y="1509840"/>
            <a:ext cx="11430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</a:rPr>
              <a:t>API Gateway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Secure Proxy</a:t>
            </a:r>
          </a:p>
        </p:txBody>
      </p:sp>
      <p:sp>
        <p:nvSpPr>
          <p:cNvPr id="15" name="AL3"/>
          <p:cNvSpPr/>
          <p:nvPr/>
        </p:nvSpPr>
        <p:spPr>
          <a:xfrm>
            <a:off x="4937760" y="17145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</a:rPr>
              <a:t>Invoke</a:t>
            </a:r>
          </a:p>
        </p:txBody>
      </p:sp>
      <p:sp>
        <p:nvSpPr>
          <p:cNvPr id="16" name="Arr3"/>
          <p:cNvSpPr/>
          <p:nvPr/>
        </p:nvSpPr>
        <p:spPr>
          <a:xfrm>
            <a:off x="4937760" y="1875960"/>
            <a:ext cx="45720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N4"/>
          <p:cNvSpPr/>
          <p:nvPr/>
        </p:nvSpPr>
        <p:spPr>
          <a:xfrm>
            <a:off x="5394960" y="1418400"/>
            <a:ext cx="1325880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Lambda</a:t>
            </a:r>
          </a:p>
          <a:p>
            <a:pPr marL="0" indent="0" algn="ctr">
              <a:buNone/>
            </a:pPr>
            <a:r>
              <a:rPr lang="en-US" sz="950" dirty="0">
                <a:solidFill>
                  <a:srgbClr val="FED7AA"/>
                </a:solidFill>
                <a:latin typeface="Calibri" pitchFamily="34" charset="0"/>
              </a:rPr>
              <a:t>Orchestrator</a:t>
            </a:r>
          </a:p>
          <a:p>
            <a:pPr marL="0" indent="0" algn="ctr">
              <a:buNone/>
            </a:pPr>
            <a:r>
              <a:rPr lang="en-US" sz="850" dirty="0">
                <a:solidFill>
                  <a:srgbClr val="FED7AA"/>
                </a:solidFill>
                <a:latin typeface="Calibri" pitchFamily="34" charset="0"/>
              </a:rPr>
              <a:t>Python 3.12</a:t>
            </a:r>
          </a:p>
        </p:txBody>
      </p:sp>
      <p:sp>
        <p:nvSpPr>
          <p:cNvPr id="18" name="AL4"/>
          <p:cNvSpPr/>
          <p:nvPr/>
        </p:nvSpPr>
        <p:spPr>
          <a:xfrm>
            <a:off x="6720840" y="16683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</a:rPr>
              <a:t>PutItem</a:t>
            </a:r>
          </a:p>
        </p:txBody>
      </p:sp>
      <p:sp>
        <p:nvSpPr>
          <p:cNvPr id="19" name="Arr4"/>
          <p:cNvSpPr/>
          <p:nvPr/>
        </p:nvSpPr>
        <p:spPr>
          <a:xfrm>
            <a:off x="6720840" y="1875960"/>
            <a:ext cx="45720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N5"/>
          <p:cNvSpPr/>
          <p:nvPr/>
        </p:nvSpPr>
        <p:spPr>
          <a:xfrm>
            <a:off x="7178040" y="1509840"/>
            <a:ext cx="11430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</a:rPr>
              <a:t>DynamoDB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Persistence</a:t>
            </a:r>
          </a:p>
        </p:txBody>
      </p:sp>
      <p:sp>
        <p:nvSpPr>
          <p:cNvPr id="21" name="GCL"/>
          <p:cNvSpPr/>
          <p:nvPr/>
        </p:nvSpPr>
        <p:spPr>
          <a:xfrm>
            <a:off x="5394960" y="2605080"/>
            <a:ext cx="1325880" cy="274320"/>
          </a:xfrm>
          <a:prstGeom prst="rect">
            <a:avLst/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</a:rPr>
              <a:t>GOOGLE CLOUD</a:t>
            </a:r>
          </a:p>
        </p:txBody>
      </p:sp>
      <p:sp>
        <p:nvSpPr>
          <p:cNvPr id="22" name="AL5"/>
          <p:cNvSpPr/>
          <p:nvPr/>
        </p:nvSpPr>
        <p:spPr>
          <a:xfrm>
            <a:off x="5711880" y="2359855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  <a:latin typeface="Calibri" pitchFamily="34" charset="0"/>
              </a:rPr>
              <a:t>REST</a:t>
            </a:r>
          </a:p>
        </p:txBody>
      </p:sp>
      <p:sp>
        <p:nvSpPr>
          <p:cNvPr id="23" name="Arr5v"/>
          <p:cNvSpPr/>
          <p:nvPr/>
        </p:nvSpPr>
        <p:spPr>
          <a:xfrm>
            <a:off x="5986200" y="2332800"/>
            <a:ext cx="45720" cy="2743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N6"/>
          <p:cNvSpPr/>
          <p:nvPr/>
        </p:nvSpPr>
        <p:spPr>
          <a:xfrm>
            <a:off x="5394960" y="2879400"/>
            <a:ext cx="1325880" cy="731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4785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</a:rPr>
              <a:t>Gemini 1.5 Flash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rgbClr val="A7F3D0"/>
                </a:solidFill>
                <a:latin typeface="Calibri" pitchFamily="34" charset="0"/>
              </a:rPr>
              <a:t>Vision + Arabic NLP</a:t>
            </a:r>
          </a:p>
        </p:txBody>
      </p:sp>
      <p:sp>
        <p:nvSpPr>
          <p:cNvPr id="25" name="Legend"/>
          <p:cNvSpPr/>
          <p:nvPr/>
        </p:nvSpPr>
        <p:spPr>
          <a:xfrm>
            <a:off x="182880" y="3749040"/>
            <a:ext cx="877824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</a:rPr>
              <a:t>Request Flow: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</a:rPr>
              <a:t>Patient Browser  →  Amazon S3 (UI)  →  API Gateway  →  Lambda  →  Gemini 1.5 Flash  →  Arabic Explanation  →  Patient  |  Lambda → DynamoDB</a:t>
            </a:r>
          </a:p>
        </p:txBody>
      </p:sp>
      <p:sp>
        <p:nvSpPr>
          <p:cNvPr id="26" name="Sec1"/>
          <p:cNvSpPr/>
          <p:nvPr/>
        </p:nvSpPr>
        <p:spPr>
          <a:xfrm>
            <a:off x="274320" y="4389840"/>
            <a:ext cx="2743200" cy="22860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</a:rPr>
              <a:t>TLS 1.3 — All Connections</a:t>
            </a:r>
          </a:p>
        </p:txBody>
      </p:sp>
      <p:sp>
        <p:nvSpPr>
          <p:cNvPr id="27" name="Sec2"/>
          <p:cNvSpPr/>
          <p:nvPr/>
        </p:nvSpPr>
        <p:spPr>
          <a:xfrm>
            <a:off x="3200400" y="4389840"/>
            <a:ext cx="2743200" cy="228600"/>
          </a:xfrm>
          <a:prstGeom prst="rect">
            <a:avLst/>
          </a:prstGeom>
          <a:solidFill>
            <a:srgbClr val="FFF7ED"/>
          </a:solidFill>
          <a:ln w="9525">
            <a:solidFill>
              <a:srgbClr val="F97316"/>
            </a:solidFill>
            <a:prstDash val="solid"/>
          </a:ln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</a:rPr>
              <a:t>IAM Least Privilege — AWS</a:t>
            </a:r>
          </a:p>
        </p:txBody>
      </p:sp>
      <p:sp>
        <p:nvSpPr>
          <p:cNvPr id="28" name="Sec3"/>
          <p:cNvSpPr/>
          <p:nvPr/>
        </p:nvSpPr>
        <p:spPr>
          <a:xfrm>
            <a:off x="6126480" y="4389840"/>
            <a:ext cx="2743200" cy="228600"/>
          </a:xfrm>
          <a:prstGeom prst="rect">
            <a:avLst/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</a:rPr>
              <a:t>AES-256 At-Rest — DynamoDB</a:t>
            </a:r>
          </a:p>
        </p:txBody>
      </p:sp>
      <p:sp>
        <p:nvSpPr>
          <p:cNvPr id="29" name="Ftr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FtrR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9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"/>
          <p:cNvSpPr/>
          <p:nvPr/>
        </p:nvSpPr>
        <p:spPr>
          <a:xfrm>
            <a:off x="274320" y="91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</a:rPr>
              <a:t>10</a:t>
            </a:r>
          </a:p>
        </p:txBody>
      </p:sp>
      <p:sp>
        <p:nvSpPr>
          <p:cNvPr id="4" name="Title"/>
          <p:cNvSpPr/>
          <p:nvPr/>
        </p:nvSpPr>
        <p:spPr>
          <a:xfrm>
            <a:off x="114300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>Live Product — LabLens v1.0 Interface</a:t>
            </a:r>
          </a:p>
        </p:txBody>
      </p:sp>
      <p:sp>
        <p:nvSpPr>
          <p:cNvPr id="5" name="BrowserFrame"/>
          <p:cNvSpPr/>
          <p:nvPr/>
        </p:nvSpPr>
        <p:spPr>
          <a:xfrm>
            <a:off x="274320" y="1097280"/>
            <a:ext cx="4800600" cy="356616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BrowserBar"/>
          <p:cNvSpPr/>
          <p:nvPr/>
        </p:nvSpPr>
        <p:spPr>
          <a:xfrm>
            <a:off x="274320" y="1097280"/>
            <a:ext cx="4800600" cy="320040"/>
          </a:xfrm>
          <a:prstGeom prst="rect">
            <a:avLst/>
          </a:prstGeom>
          <a:solidFill>
            <a:srgbClr val="334155"/>
          </a:solidFill>
          <a:ln w="12700">
            <a:solidFill>
              <a:srgbClr val="1E293B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</a:rPr>
              <a:t>●  ●  ●     lablens.app</a:t>
            </a:r>
          </a:p>
        </p:txBody>
      </p:sp>
      <p:sp>
        <p:nvSpPr>
          <p:cNvPr id="7" name="AppHdr"/>
          <p:cNvSpPr/>
          <p:nvPr/>
        </p:nvSpPr>
        <p:spPr>
          <a:xfrm>
            <a:off x="274320" y="1417320"/>
            <a:ext cx="4800600" cy="548640"/>
          </a:xfrm>
          <a:prstGeom prst="rect">
            <a:avLst/>
          </a:prstGeom>
          <a:solidFill>
            <a:srgbClr val="1B5EBF"/>
          </a:solidFill>
          <a:ln w="12700">
            <a:solidFill>
              <a:srgbClr val="1B5EBF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LabLens 🔬</a:t>
            </a:r>
          </a:p>
        </p:txBody>
      </p:sp>
      <p:sp>
        <p:nvSpPr>
          <p:cNvPr id="8" name="AppTagline"/>
          <p:cNvSpPr/>
          <p:nvPr/>
        </p:nvSpPr>
        <p:spPr>
          <a:xfrm>
            <a:off x="274320" y="1965960"/>
            <a:ext cx="480060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ar-SA" sz="1100" dirty="0">
                <a:solidFill>
                  <a:srgbClr val="1B5EBF"/>
                </a:solidFill>
                <a:latin typeface="Calibri" pitchFamily="34" charset="0"/>
              </a:rPr>
              <a:t>محلل التحاليل الطبية الذكي — اعرف تحاليلك بالعربي البسيط</a:t>
            </a:r>
          </a:p>
        </p:txBody>
      </p:sp>
      <p:sp>
        <p:nvSpPr>
          <p:cNvPr id="9" name="UploadZone"/>
          <p:cNvSpPr/>
          <p:nvPr/>
        </p:nvSpPr>
        <p:spPr>
          <a:xfrm>
            <a:off x="411480" y="2285280"/>
            <a:ext cx="45260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B5EBF"/>
            </a:solidFill>
            <a:prstDash val="dash"/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</a:rPr>
              <a:t>📂</a:t>
            </a:r>
          </a:p>
          <a:p>
            <a:pPr marL="0" indent="0" algn="ctr">
              <a:buNone/>
            </a:pPr>
            <a:r>
              <a:rPr lang="ar-SA" sz="1100" b="1" dirty="0">
                <a:solidFill>
                  <a:srgbClr val="1B5EBF"/>
                </a:solidFill>
                <a:latin typeface="Calibri" pitchFamily="34" charset="0"/>
              </a:rPr>
              <a:t>اضغط لرفع صورة التحليل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JPG · PNG · PDF — Max 10MB</a:t>
            </a:r>
          </a:p>
        </p:txBody>
      </p:sp>
      <p:sp>
        <p:nvSpPr>
          <p:cNvPr id="10" name="Btn"/>
          <p:cNvSpPr/>
          <p:nvPr/>
        </p:nvSpPr>
        <p:spPr>
          <a:xfrm>
            <a:off x="411480" y="3245400"/>
            <a:ext cx="4526040" cy="365760"/>
          </a:xfrm>
          <a:prstGeom prst="rect">
            <a:avLst/>
          </a:prstGeom>
          <a:solidFill>
            <a:srgbClr val="1B5EBF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45720" tIns="0" rIns="45720" bIns="0" rtlCol="0" anchor="ctr"/>
          <a:lstStyle/>
          <a:p>
            <a:pPr marL="0" indent="0" algn="ctr">
              <a:buNone/>
            </a:pPr>
            <a:r>
              <a:rPr lang="ar-SA" sz="1200" b="1" dirty="0">
                <a:solidFill>
                  <a:srgbClr val="FFFFFF"/>
                </a:solidFill>
                <a:latin typeface="Calibri" pitchFamily="34" charset="0"/>
              </a:rPr>
              <a:t>🔍 حلّ التحاليل</a:t>
            </a:r>
          </a:p>
        </p:txBody>
      </p:sp>
      <p:sp>
        <p:nvSpPr>
          <p:cNvPr id="11" name="AppFtr"/>
          <p:cNvSpPr/>
          <p:nvPr/>
        </p:nvSpPr>
        <p:spPr>
          <a:xfrm>
            <a:off x="274320" y="3657240"/>
            <a:ext cx="48006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endParaRPr lang="en-US" sz="800" dirty="0">
              <a:solidFill>
                <a:srgbClr val="94A3B8"/>
              </a:solidFill>
              <a:latin typeface="Calibri" pitchFamily="34" charset="0"/>
            </a:endParaRPr>
          </a:p>
        </p:txBody>
      </p:sp>
      <p:sp>
        <p:nvSpPr>
          <p:cNvPr id="12" name="C1"/>
          <p:cNvSpPr/>
          <p:nvPr/>
        </p:nvSpPr>
        <p:spPr>
          <a:xfrm>
            <a:off x="5257920" y="109728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C1accent"/>
          <p:cNvSpPr/>
          <p:nvPr/>
        </p:nvSpPr>
        <p:spPr>
          <a:xfrm>
            <a:off x="5257920" y="1097280"/>
            <a:ext cx="9144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C1h"/>
          <p:cNvSpPr/>
          <p:nvPr/>
        </p:nvSpPr>
        <p:spPr>
          <a:xfrm>
            <a:off x="5486400" y="1143000"/>
            <a:ext cx="342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</a:rPr>
              <a:t>Multimodal Image Upload</a:t>
            </a:r>
          </a:p>
        </p:txBody>
      </p:sp>
      <p:sp>
        <p:nvSpPr>
          <p:cNvPr id="15" name="C1t"/>
          <p:cNvSpPr/>
          <p:nvPr/>
        </p:nvSpPr>
        <p:spPr>
          <a:xfrm>
            <a:off x="5486400" y="1417320"/>
            <a:ext cx="342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</a:rPr>
              <a:t>Accepts JPG, PNG, and PDF lab reports up to 10MB — processed by Gemini Vision</a:t>
            </a:r>
          </a:p>
        </p:txBody>
      </p:sp>
      <p:sp>
        <p:nvSpPr>
          <p:cNvPr id="16" name="C2"/>
          <p:cNvSpPr/>
          <p:nvPr/>
        </p:nvSpPr>
        <p:spPr>
          <a:xfrm>
            <a:off x="5257920" y="196668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C2accent"/>
          <p:cNvSpPr/>
          <p:nvPr/>
        </p:nvSpPr>
        <p:spPr>
          <a:xfrm>
            <a:off x="5257920" y="1966680"/>
            <a:ext cx="91440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C2h"/>
          <p:cNvSpPr/>
          <p:nvPr/>
        </p:nvSpPr>
        <p:spPr>
          <a:xfrm>
            <a:off x="5486400" y="2012400"/>
            <a:ext cx="342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</a:rPr>
              <a:t>Arabic-First AI Output</a:t>
            </a:r>
          </a:p>
        </p:txBody>
      </p:sp>
      <p:sp>
        <p:nvSpPr>
          <p:cNvPr id="19" name="C2t"/>
          <p:cNvSpPr/>
          <p:nvPr/>
        </p:nvSpPr>
        <p:spPr>
          <a:xfrm>
            <a:off x="5486400" y="2286720"/>
            <a:ext cx="342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</a:rPr>
              <a:t>Results explained in plain Arabic — no medical jargon, directly accessible to patients</a:t>
            </a:r>
          </a:p>
        </p:txBody>
      </p:sp>
      <p:sp>
        <p:nvSpPr>
          <p:cNvPr id="20" name="C3"/>
          <p:cNvSpPr/>
          <p:nvPr/>
        </p:nvSpPr>
        <p:spPr>
          <a:xfrm>
            <a:off x="5257920" y="283584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C3accent"/>
          <p:cNvSpPr/>
          <p:nvPr/>
        </p:nvSpPr>
        <p:spPr>
          <a:xfrm>
            <a:off x="5257920" y="2835840"/>
            <a:ext cx="9144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C3h"/>
          <p:cNvSpPr/>
          <p:nvPr/>
        </p:nvSpPr>
        <p:spPr>
          <a:xfrm>
            <a:off x="5486400" y="2881560"/>
            <a:ext cx="342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</a:rPr>
              <a:t>Zero Infrastructure</a:t>
            </a:r>
          </a:p>
        </p:txBody>
      </p:sp>
      <p:sp>
        <p:nvSpPr>
          <p:cNvPr id="23" name="C3t"/>
          <p:cNvSpPr/>
          <p:nvPr/>
        </p:nvSpPr>
        <p:spPr>
          <a:xfrm>
            <a:off x="5486400" y="3155880"/>
            <a:ext cx="342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</a:rPr>
              <a:t>Fully serverless — $0 fixed costs, scales infinitely with patient demand</a:t>
            </a:r>
          </a:p>
        </p:txBody>
      </p:sp>
      <p:sp>
        <p:nvSpPr>
          <p:cNvPr id="24" name="C4"/>
          <p:cNvSpPr/>
          <p:nvPr/>
        </p:nvSpPr>
        <p:spPr>
          <a:xfrm>
            <a:off x="5257920" y="3704400"/>
            <a:ext cx="36576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</a:rPr>
              <a:t>Target Users: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</a:rPr>
              <a:t>Arabic-speaking patients across MENA, Egypt, Gulf, and diaspora communities worldwide</a:t>
            </a:r>
          </a:p>
        </p:txBody>
      </p:sp>
      <p:sp>
        <p:nvSpPr>
          <p:cNvPr id="25" name="Ftr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FtrL"/>
          <p:cNvSpPr/>
          <p:nvPr/>
        </p:nvSpPr>
        <p:spPr>
          <a:xfrm>
            <a:off x="274320" y="48737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solidFill>
                <a:srgbClr val="64748B"/>
              </a:solidFill>
            </a:endParaRPr>
          </a:p>
        </p:txBody>
      </p:sp>
      <p:sp>
        <p:nvSpPr>
          <p:cNvPr id="27" name="FtrR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10 /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Num"/>
          <p:cNvSpPr/>
          <p:nvPr/>
        </p:nvSpPr>
        <p:spPr>
          <a:xfrm>
            <a:off x="274320" y="914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</a:rPr>
              <a:t>11</a:t>
            </a:r>
          </a:p>
        </p:txBody>
      </p:sp>
      <p:sp>
        <p:nvSpPr>
          <p:cNvPr id="4" name="Title"/>
          <p:cNvSpPr/>
          <p:nvPr/>
        </p:nvSpPr>
        <p:spPr>
          <a:xfrm>
            <a:off x="114300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>Demo Output — Real Arabic Analysis Result</a:t>
            </a:r>
          </a:p>
        </p:txBody>
      </p:sp>
      <p:sp>
        <p:nvSpPr>
          <p:cNvPr id="5" name="ResultPanel"/>
          <p:cNvSpPr/>
          <p:nvPr/>
        </p:nvSpPr>
        <p:spPr>
          <a:xfrm>
            <a:off x="274320" y="1097280"/>
            <a:ext cx="5120640" cy="3706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Accent"/>
          <p:cNvSpPr/>
          <p:nvPr/>
        </p:nvSpPr>
        <p:spPr>
          <a:xfrm>
            <a:off x="274320" y="1097280"/>
            <a:ext cx="91440" cy="3706560"/>
          </a:xfrm>
          <a:prstGeom prst="rect">
            <a:avLst/>
          </a:prstGeom>
          <a:solidFill>
            <a:srgbClr val="1B5EBF"/>
          </a:solidFill>
          <a:ln w="12700">
            <a:solidFill>
              <a:srgbClr val="1B5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Heading"/>
          <p:cNvSpPr/>
          <p:nvPr/>
        </p:nvSpPr>
        <p:spPr>
          <a:xfrm>
            <a:off x="457200" y="11430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SA" sz="1300" b="1" dirty="0">
                <a:solidFill>
                  <a:srgbClr val="1B2A4A"/>
                </a:solidFill>
                <a:latin typeface="Calibri" pitchFamily="34" charset="0"/>
              </a:rPr>
              <a:t>ملخص بسيط للنتائج غير الطبيعية:</a:t>
            </a:r>
          </a:p>
        </p:txBody>
      </p:sp>
      <p:sp>
        <p:nvSpPr>
          <p:cNvPr id="8" name="Item1bg"/>
          <p:cNvSpPr/>
          <p:nvPr/>
        </p:nvSpPr>
        <p:spPr>
          <a:xfrm>
            <a:off x="411480" y="1508760"/>
            <a:ext cx="4892880" cy="274320"/>
          </a:xfrm>
          <a:prstGeom prst="rect">
            <a:avLst/>
          </a:prstGeom>
          <a:solidFill>
            <a:srgbClr val="FEF3C7"/>
          </a:solidFill>
          <a:ln w="9525">
            <a:solidFill>
              <a:srgbClr val="FDE68A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ar-SA" sz="1100" dirty="0">
                <a:solidFill>
                  <a:srgbClr val="92400E"/>
                </a:solidFill>
                <a:latin typeface="Calibri" pitchFamily="34" charset="0"/>
              </a:rPr>
              <a:t>▲  عدد كريات الدم البيضاء:  </a:t>
            </a:r>
            <a:r>
              <a:rPr lang="ar-SA" sz="1100" b="1" dirty="0">
                <a:solidFill>
                  <a:srgbClr val="92400E"/>
                </a:solidFill>
                <a:latin typeface="Calibri" pitchFamily="34" charset="0"/>
              </a:rPr>
              <a:t>مرتفع قليلاً</a:t>
            </a:r>
          </a:p>
        </p:txBody>
      </p:sp>
      <p:sp>
        <p:nvSpPr>
          <p:cNvPr id="9" name="Item2bg"/>
          <p:cNvSpPr/>
          <p:nvPr/>
        </p:nvSpPr>
        <p:spPr>
          <a:xfrm>
            <a:off x="411480" y="1828800"/>
            <a:ext cx="4892880" cy="274320"/>
          </a:xfrm>
          <a:prstGeom prst="rect">
            <a:avLst/>
          </a:prstGeom>
          <a:solidFill>
            <a:srgbClr val="FEE2E2"/>
          </a:solidFill>
          <a:ln w="9525">
            <a:solidFill>
              <a:srgbClr val="FECACA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ar-SA" sz="1100" dirty="0">
                <a:solidFill>
                  <a:srgbClr val="991B1B"/>
                </a:solidFill>
                <a:latin typeface="Calibri" pitchFamily="34" charset="0"/>
              </a:rPr>
              <a:t>▼  متوسط حجم كريات الدم الحمراء (MCV):  </a:t>
            </a:r>
            <a:r>
              <a:rPr lang="ar-SA" sz="1100" b="1" dirty="0">
                <a:solidFill>
                  <a:srgbClr val="991B1B"/>
                </a:solidFill>
                <a:latin typeface="Calibri" pitchFamily="34" charset="0"/>
              </a:rPr>
              <a:t>منخفض</a:t>
            </a:r>
          </a:p>
        </p:txBody>
      </p:sp>
      <p:sp>
        <p:nvSpPr>
          <p:cNvPr id="10" name="Item3bg"/>
          <p:cNvSpPr/>
          <p:nvPr/>
        </p:nvSpPr>
        <p:spPr>
          <a:xfrm>
            <a:off x="411480" y="2148840"/>
            <a:ext cx="4892880" cy="274320"/>
          </a:xfrm>
          <a:prstGeom prst="rect">
            <a:avLst/>
          </a:prstGeom>
          <a:solidFill>
            <a:srgbClr val="FEE2E2"/>
          </a:solidFill>
          <a:ln w="9525">
            <a:solidFill>
              <a:srgbClr val="FECACA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marL="0" indent="0" algn="r">
              <a:buNone/>
            </a:pPr>
            <a:r>
              <a:rPr lang="ar-SA" sz="1100" dirty="0">
                <a:solidFill>
                  <a:srgbClr val="991B1B"/>
                </a:solidFill>
                <a:latin typeface="Calibri" pitchFamily="34" charset="0"/>
              </a:rPr>
              <a:t>▼  متوسط الهيموجلوبين في الخلية الواحدة (MCH):  </a:t>
            </a:r>
            <a:r>
              <a:rPr lang="ar-SA" sz="1100" b="1" dirty="0">
                <a:solidFill>
                  <a:srgbClr val="991B1B"/>
                </a:solidFill>
                <a:latin typeface="Calibri" pitchFamily="34" charset="0"/>
              </a:rPr>
              <a:t>منخفض</a:t>
            </a:r>
          </a:p>
        </p:txBody>
      </p:sp>
      <p:sp>
        <p:nvSpPr>
          <p:cNvPr id="11" name="Interp"/>
          <p:cNvSpPr/>
          <p:nvPr/>
        </p:nvSpPr>
        <p:spPr>
          <a:xfrm>
            <a:off x="411480" y="2514600"/>
            <a:ext cx="48928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 wrap="square" lIns="91440" tIns="91440" rIns="91440" bIns="91440" rtlCol="0" anchor="t"/>
          <a:lstStyle/>
          <a:p>
            <a:pPr marL="0" indent="0" algn="r">
              <a:buNone/>
            </a:pPr>
            <a:r>
              <a:rPr lang="ar-SA" sz="1000" dirty="0">
                <a:solidFill>
                  <a:srgbClr val="1E293B"/>
                </a:solidFill>
                <a:latin typeface="Calibri" pitchFamily="34" charset="0"/>
              </a:rPr>
              <a:t>هذه النتائج مجتمعة (MCV و MCH منخفضين مع هيموجلوبين طبيعي) تحتاج إلى تقييم من طبيبك لتحديد السبب. قد تحتاجين إلى فحوصات إضافية. ارتفاع كريات الدم البيضاء بشكل طفيف قد يكون له أسباب عديدة.</a:t>
            </a:r>
          </a:p>
        </p:txBody>
      </p:sp>
      <p:sp>
        <p:nvSpPr>
          <p:cNvPr id="12" name="Disclaimer"/>
          <p:cNvSpPr/>
          <p:nvPr/>
        </p:nvSpPr>
        <p:spPr>
          <a:xfrm>
            <a:off x="411480" y="3291840"/>
            <a:ext cx="4892880" cy="45720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 algn="r">
              <a:buNone/>
            </a:pPr>
            <a:r>
              <a:rPr lang="ar-SA" sz="950" b="1" dirty="0">
                <a:solidFill>
                  <a:srgbClr val="1D4ED8"/>
                </a:solidFill>
                <a:latin typeface="Calibri" pitchFamily="34" charset="0"/>
              </a:rPr>
              <a:t>ℹ️  نصيحة هامة: </a:t>
            </a:r>
            <a:r>
              <a:rPr lang="ar-SA" sz="950" dirty="0">
                <a:solidFill>
                  <a:srgbClr val="1E3A8A"/>
                </a:solidFill>
                <a:latin typeface="Calibri" pitchFamily="34" charset="0"/>
              </a:rPr>
              <a:t>هذه مجرد قراءة مبسطة للتحاليل. من الضروري جداً استشارة الطبيب الذي طلب هذه التحاليل.</a:t>
            </a:r>
          </a:p>
        </p:txBody>
      </p:sp>
      <p:sp>
        <p:nvSpPr>
          <p:cNvPr id="13" name="RH"/>
          <p:cNvSpPr/>
          <p:nvPr/>
        </p:nvSpPr>
        <p:spPr>
          <a:xfrm>
            <a:off x="566928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</a:rPr>
              <a:t>What AI Detected</a:t>
            </a:r>
          </a:p>
        </p:txBody>
      </p:sp>
      <p:sp>
        <p:nvSpPr>
          <p:cNvPr id="14" name="DC1"/>
          <p:cNvSpPr/>
          <p:nvPr/>
        </p:nvSpPr>
        <p:spPr>
          <a:xfrm>
            <a:off x="5669280" y="1463040"/>
            <a:ext cx="3200400" cy="548640"/>
          </a:xfrm>
          <a:prstGeom prst="rect">
            <a:avLst/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</a:rPr>
              <a:t>WBC Slightly Elevated ▲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78350F"/>
                </a:solidFill>
                <a:latin typeface="Calibri" pitchFamily="34" charset="0"/>
              </a:rPr>
              <a:t>May indicate mild infection or inflammatory response</a:t>
            </a:r>
          </a:p>
        </p:txBody>
      </p:sp>
      <p:sp>
        <p:nvSpPr>
          <p:cNvPr id="15" name="DC2"/>
          <p:cNvSpPr/>
          <p:nvPr/>
        </p:nvSpPr>
        <p:spPr>
          <a:xfrm>
            <a:off x="5669280" y="2057400"/>
            <a:ext cx="3200400" cy="548640"/>
          </a:xfrm>
          <a:prstGeom prst="rect">
            <a:avLst/>
          </a:prstGeom>
          <a:solidFill>
            <a:srgbClr val="FEE2E2"/>
          </a:solidFill>
          <a:ln w="9525">
            <a:solidFill>
              <a:srgbClr val="EF4444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</a:rPr>
              <a:t>MCV Low ▼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</a:rPr>
              <a:t>Small red blood cells — possible iron-deficiency pattern</a:t>
            </a:r>
          </a:p>
        </p:txBody>
      </p:sp>
      <p:sp>
        <p:nvSpPr>
          <p:cNvPr id="16" name="DC3"/>
          <p:cNvSpPr/>
          <p:nvPr/>
        </p:nvSpPr>
        <p:spPr>
          <a:xfrm>
            <a:off x="5669280" y="2651760"/>
            <a:ext cx="3200400" cy="548640"/>
          </a:xfrm>
          <a:prstGeom prst="rect">
            <a:avLst/>
          </a:prstGeom>
          <a:solidFill>
            <a:srgbClr val="FEE2E2"/>
          </a:solidFill>
          <a:ln w="9525">
            <a:solidFill>
              <a:srgbClr val="EF4444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</a:rPr>
              <a:t>MCH Low ▼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7F1D1D"/>
                </a:solidFill>
                <a:latin typeface="Calibri" pitchFamily="34" charset="0"/>
              </a:rPr>
              <a:t>Low hemoglobin per cell — further evaluation recommended</a:t>
            </a:r>
          </a:p>
        </p:txBody>
      </p:sp>
      <p:sp>
        <p:nvSpPr>
          <p:cNvPr id="17" name="KeyInsight"/>
          <p:cNvSpPr/>
          <p:nvPr/>
        </p:nvSpPr>
        <p:spPr>
          <a:xfrm>
            <a:off x="5669280" y="3291840"/>
            <a:ext cx="32004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 wrap="square" lIns="91440" tIns="91440" rIns="91440" bIns="9144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3C5FD"/>
                </a:solidFill>
                <a:latin typeface="Calibri" pitchFamily="34" charset="0"/>
              </a:rPr>
              <a:t>AI Pattern: 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</a:rPr>
              <a:t>Low MCV + Low MCH = microcytic anemia pattern. Explained plainly in Arabic so any patient can understand — no medical background needed.</a:t>
            </a:r>
          </a:p>
        </p:txBody>
      </p:sp>
      <p:sp>
        <p:nvSpPr>
          <p:cNvPr id="18" name="Ftr"/>
          <p:cNvSpPr/>
          <p:nvPr/>
        </p:nvSpPr>
        <p:spPr>
          <a:xfrm>
            <a:off x="0" y="4873752"/>
            <a:ext cx="9144000" cy="2971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FtrL"/>
          <p:cNvSpPr/>
          <p:nvPr/>
        </p:nvSpPr>
        <p:spPr>
          <a:xfrm>
            <a:off x="274320" y="48737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solidFill>
                <a:srgbClr val="64748B"/>
              </a:solidFill>
            </a:endParaRPr>
          </a:p>
        </p:txBody>
      </p:sp>
      <p:sp>
        <p:nvSpPr>
          <p:cNvPr id="20" name="FtrR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11 /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1E3A6E">
              <a:alpha val="80000"/>
            </a:srgbClr>
          </a:solidFill>
          <a:ln w="12700">
            <a:solidFill>
              <a:srgbClr val="1E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LabLens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11480" y="22402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Clinical Data &amp; Patient Understanding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2926080"/>
            <a:ext cx="32004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1089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— Zero infrastructure management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493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— AWS + Google Gemini 1.5 Flash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87705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— TLS 1.3, AES-256, Least Privilege IAM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4389120"/>
            <a:ext cx="16459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1116</Words>
  <Application>Microsoft Office PowerPoint</Application>
  <PresentationFormat>On-screen Show (16:9)</PresentationFormat>
  <Paragraphs>236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LabLens - Technical Project Proposal</dc:title>
  <dc:subject>PptxGenJS Presentation</dc:subject>
  <dc:creator>PptxGenJS</dc:creator>
  <cp:lastModifiedBy>مصطفى محمد محمود المرسى الحلوانى</cp:lastModifiedBy>
  <cp:revision>2</cp:revision>
  <dcterms:created xsi:type="dcterms:W3CDTF">2026-04-14T20:53:40Z</dcterms:created>
  <dcterms:modified xsi:type="dcterms:W3CDTF">2026-04-19T21:56:20Z</dcterms:modified>
</cp:coreProperties>
</file>